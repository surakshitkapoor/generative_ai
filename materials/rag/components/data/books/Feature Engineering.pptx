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124E5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124E5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124E5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124E5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85554" y="958575"/>
            <a:ext cx="3398090" cy="413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124E5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751941" y="10046507"/>
            <a:ext cx="21907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590" y="958575"/>
            <a:ext cx="3373754" cy="413384"/>
          </a:xfrm>
          <a:prstGeom prst="rect"/>
          <a:solidFill>
            <a:srgbClr val="F0F08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90"/>
              </a:lnSpc>
            </a:pPr>
            <a:r>
              <a:rPr dirty="0" spc="-10"/>
              <a:t>Feature</a:t>
            </a:r>
            <a:r>
              <a:rPr dirty="0" spc="-170"/>
              <a:t> </a:t>
            </a:r>
            <a:r>
              <a:rPr dirty="0" spc="-10"/>
              <a:t>Engineering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1844320"/>
            <a:ext cx="6225540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Feature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Engineering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giving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your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makeover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before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meets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machine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learning model.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200">
              <a:latin typeface="Arial"/>
              <a:cs typeface="Arial"/>
            </a:endParaRPr>
          </a:p>
          <a:p>
            <a:pPr marL="12700" marR="180340">
              <a:lnSpc>
                <a:spcPct val="130700"/>
              </a:lnSpc>
            </a:pP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means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cleaning,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creating,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transforming,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selecting,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removing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(columns)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so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understand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clearly.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3100" y="5259055"/>
            <a:ext cx="62439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short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it’s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turning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raw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into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smart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machines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better.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23900" y="6356350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73100" y="6987457"/>
            <a:ext cx="615442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290" b="1">
                <a:solidFill>
                  <a:srgbClr val="731B46"/>
                </a:solidFill>
                <a:latin typeface="Calibri"/>
                <a:cs typeface="Calibri"/>
              </a:rPr>
              <a:t>Why</a:t>
            </a:r>
            <a:r>
              <a:rPr dirty="0" sz="1700" spc="10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25" b="1">
                <a:solidFill>
                  <a:srgbClr val="731B46"/>
                </a:solidFill>
                <a:latin typeface="Calibri"/>
                <a:cs typeface="Calibri"/>
              </a:rPr>
              <a:t>do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54" b="1">
                <a:solidFill>
                  <a:srgbClr val="731B46"/>
                </a:solidFill>
                <a:latin typeface="Calibri"/>
                <a:cs typeface="Calibri"/>
              </a:rPr>
              <a:t>we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35" b="1">
                <a:solidFill>
                  <a:srgbClr val="731B46"/>
                </a:solidFill>
                <a:latin typeface="Calibri"/>
                <a:cs typeface="Calibri"/>
              </a:rPr>
              <a:t>need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70" b="1">
                <a:solidFill>
                  <a:srgbClr val="731B46"/>
                </a:solidFill>
                <a:latin typeface="Calibri"/>
                <a:cs typeface="Calibri"/>
              </a:rPr>
              <a:t>feature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15" b="1">
                <a:solidFill>
                  <a:srgbClr val="731B46"/>
                </a:solidFill>
                <a:latin typeface="Calibri"/>
                <a:cs typeface="Calibri"/>
              </a:rPr>
              <a:t>engineering?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30700"/>
              </a:lnSpc>
              <a:spcBef>
                <a:spcPts val="1165"/>
              </a:spcBef>
            </a:pPr>
            <a:r>
              <a:rPr dirty="0" sz="1200">
                <a:latin typeface="Arial"/>
                <a:cs typeface="Arial"/>
              </a:rPr>
              <a:t>We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need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because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improve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performance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turning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raw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meaningful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inputs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making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clearer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predictions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accurate.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4935" y="3364896"/>
            <a:ext cx="4895850" cy="158115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947552"/>
            <a:ext cx="540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Imagine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40" b="1">
                <a:latin typeface="Arial"/>
                <a:cs typeface="Arial"/>
              </a:rPr>
              <a:t>you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start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building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 </a:t>
            </a:r>
            <a:r>
              <a:rPr dirty="0" sz="1200" spc="-30" b="1">
                <a:latin typeface="Arial"/>
                <a:cs typeface="Arial"/>
              </a:rPr>
              <a:t>machine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-10">
                <a:latin typeface="Arial"/>
                <a:cs typeface="Arial"/>
              </a:rPr>
              <a:t> this: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85800" y="1346200"/>
          <a:ext cx="5753100" cy="27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00"/>
                <a:gridCol w="495300"/>
                <a:gridCol w="901700"/>
                <a:gridCol w="825500"/>
                <a:gridCol w="1384300"/>
                <a:gridCol w="863600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Customer_ID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Age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Income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Gender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Purchase_Date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Spent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C101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25">
                          <a:latin typeface="Arial"/>
                          <a:cs typeface="Arial"/>
                        </a:rPr>
                        <a:t>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40">
                          <a:latin typeface="Arial"/>
                          <a:cs typeface="Arial"/>
                        </a:rPr>
                        <a:t>50000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12/03/24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200" spc="30">
                          <a:latin typeface="Arial"/>
                          <a:cs typeface="Arial"/>
                        </a:rPr>
                        <a:t>3000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C102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NaN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40">
                          <a:latin typeface="Arial"/>
                          <a:cs typeface="Arial"/>
                        </a:rPr>
                        <a:t>120000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03/04/24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?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C103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25">
                          <a:latin typeface="Arial"/>
                          <a:cs typeface="Arial"/>
                        </a:rPr>
                        <a:t>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200" spc="55">
                          <a:latin typeface="Arial"/>
                          <a:cs typeface="Arial"/>
                        </a:rPr>
                        <a:t>-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Male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2024/04/07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200" spc="30">
                          <a:latin typeface="Arial"/>
                          <a:cs typeface="Arial"/>
                        </a:rPr>
                        <a:t>7000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73100" y="4583131"/>
            <a:ext cx="6090920" cy="2395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If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you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train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directly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it’ll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struggle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because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missing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ages,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inconsistent </a:t>
            </a:r>
            <a:r>
              <a:rPr dirty="0" sz="1200">
                <a:latin typeface="Arial"/>
                <a:cs typeface="Arial"/>
              </a:rPr>
              <a:t>formats,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unclear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values.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That’s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where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engineering </a:t>
            </a:r>
            <a:r>
              <a:rPr dirty="0" sz="1200" spc="-10">
                <a:latin typeface="Arial"/>
                <a:cs typeface="Arial"/>
              </a:rPr>
              <a:t>comes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in.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cleans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prepares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such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data: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Fills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missing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values,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ﬁxes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formats</a:t>
            </a: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440"/>
              </a:spcBef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Converts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“Gender”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numbers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(0/1)</a:t>
            </a: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44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Arial"/>
                <a:cs typeface="Arial"/>
              </a:rPr>
              <a:t>Creates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new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“Monthly_Spending”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“Days_Since_Last_Purchase”</a:t>
            </a:r>
            <a:endParaRPr sz="1200">
              <a:latin typeface="Arial"/>
              <a:cs typeface="Arial"/>
            </a:endParaRPr>
          </a:p>
          <a:p>
            <a:pPr marL="12700" marR="21590">
              <a:lnSpc>
                <a:spcPct val="130700"/>
              </a:lnSpc>
              <a:spcBef>
                <a:spcPts val="1200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turns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raw,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messy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structured,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meaningful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input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learn patterns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predict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accurately.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85800" y="6011533"/>
            <a:ext cx="1043305" cy="266065"/>
          </a:xfrm>
          <a:custGeom>
            <a:avLst/>
            <a:gdLst/>
            <a:ahLst/>
            <a:cxnLst/>
            <a:rect l="l" t="t" r="r" b="b"/>
            <a:pathLst>
              <a:path w="1043305" h="266064">
                <a:moveTo>
                  <a:pt x="1042820" y="265472"/>
                </a:moveTo>
                <a:lnTo>
                  <a:pt x="0" y="265472"/>
                </a:lnTo>
                <a:lnTo>
                  <a:pt x="0" y="0"/>
                </a:lnTo>
                <a:lnTo>
                  <a:pt x="1042820" y="0"/>
                </a:lnTo>
                <a:lnTo>
                  <a:pt x="1042820" y="2654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23900" y="4222748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73100" y="4809133"/>
            <a:ext cx="6090920" cy="146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dirty="0" sz="1700" spc="215" b="1">
                <a:solidFill>
                  <a:srgbClr val="731B46"/>
                </a:solidFill>
                <a:latin typeface="Calibri"/>
                <a:cs typeface="Calibri"/>
              </a:rPr>
              <a:t>Understanding</a:t>
            </a:r>
            <a:r>
              <a:rPr dirty="0" sz="1700" spc="114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30" b="1">
                <a:solidFill>
                  <a:srgbClr val="731B46"/>
                </a:solidFill>
                <a:latin typeface="Calibri"/>
                <a:cs typeface="Calibri"/>
              </a:rPr>
              <a:t>all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00" b="1">
                <a:solidFill>
                  <a:srgbClr val="731B46"/>
                </a:solidFill>
                <a:latin typeface="Calibri"/>
                <a:cs typeface="Calibri"/>
              </a:rPr>
              <a:t>steps</a:t>
            </a:r>
            <a:r>
              <a:rPr dirty="0" sz="1700" spc="114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55" b="1">
                <a:solidFill>
                  <a:srgbClr val="731B46"/>
                </a:solidFill>
                <a:latin typeface="Calibri"/>
                <a:cs typeface="Calibri"/>
              </a:rPr>
              <a:t>of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70" b="1">
                <a:solidFill>
                  <a:srgbClr val="731B46"/>
                </a:solidFill>
                <a:latin typeface="Calibri"/>
                <a:cs typeface="Calibri"/>
              </a:rPr>
              <a:t>feature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25" b="1">
                <a:solidFill>
                  <a:srgbClr val="731B46"/>
                </a:solidFill>
                <a:latin typeface="Calibri"/>
                <a:cs typeface="Calibri"/>
              </a:rPr>
              <a:t>engineering</a:t>
            </a:r>
            <a:r>
              <a:rPr dirty="0" sz="1700" spc="114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00" b="1">
                <a:solidFill>
                  <a:srgbClr val="731B46"/>
                </a:solidFill>
                <a:latin typeface="Calibri"/>
                <a:cs typeface="Calibri"/>
              </a:rPr>
              <a:t>with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55" b="1">
                <a:solidFill>
                  <a:srgbClr val="731B46"/>
                </a:solidFill>
                <a:latin typeface="Calibri"/>
                <a:cs typeface="Calibri"/>
              </a:rPr>
              <a:t>a </a:t>
            </a:r>
            <a:r>
              <a:rPr dirty="0" sz="1700" spc="229" b="1">
                <a:solidFill>
                  <a:srgbClr val="731B46"/>
                </a:solidFill>
                <a:latin typeface="Calibri"/>
                <a:cs typeface="Calibri"/>
              </a:rPr>
              <a:t>case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90" b="1">
                <a:solidFill>
                  <a:srgbClr val="731B46"/>
                </a:solidFill>
                <a:latin typeface="Calibri"/>
                <a:cs typeface="Calibri"/>
              </a:rPr>
              <a:t>study</a:t>
            </a:r>
            <a:endParaRPr sz="1700">
              <a:latin typeface="Calibri"/>
              <a:cs typeface="Calibri"/>
            </a:endParaRPr>
          </a:p>
          <a:p>
            <a:pPr marL="12700" marR="1002030">
              <a:lnSpc>
                <a:spcPct val="133500"/>
              </a:lnSpc>
              <a:spcBef>
                <a:spcPts val="1745"/>
              </a:spcBef>
            </a:pPr>
            <a:r>
              <a:rPr dirty="0" sz="1500">
                <a:latin typeface="Comic Sans MS"/>
                <a:cs typeface="Comic Sans MS"/>
              </a:rPr>
              <a:t>Case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Study: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Feature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Engineering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at</a:t>
            </a:r>
            <a:r>
              <a:rPr dirty="0" sz="1500" spc="-15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a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Card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>
                <a:latin typeface="Comic Sans MS"/>
                <a:cs typeface="Comic Sans MS"/>
              </a:rPr>
              <a:t>Company</a:t>
            </a:r>
            <a:r>
              <a:rPr dirty="0" sz="1500" spc="-20">
                <a:latin typeface="Comic Sans MS"/>
                <a:cs typeface="Comic Sans MS"/>
              </a:rPr>
              <a:t> </a:t>
            </a:r>
            <a:r>
              <a:rPr dirty="0" sz="1500" spc="-10">
                <a:latin typeface="Comic Sans MS"/>
                <a:cs typeface="Comic Sans MS"/>
              </a:rPr>
              <a:t>(e.g., </a:t>
            </a:r>
            <a:r>
              <a:rPr dirty="0" sz="1500" spc="-10">
                <a:solidFill>
                  <a:srgbClr val="990000"/>
                </a:solidFill>
                <a:latin typeface="Comic Sans MS"/>
                <a:cs typeface="Comic Sans MS"/>
              </a:rPr>
              <a:t>Mastercard</a:t>
            </a:r>
            <a:r>
              <a:rPr dirty="0" sz="1500" spc="-10">
                <a:latin typeface="Comic Sans MS"/>
                <a:cs typeface="Comic Sans MS"/>
              </a:rPr>
              <a:t>)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3100" y="6733018"/>
            <a:ext cx="6233795" cy="1786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Scenario</a:t>
            </a:r>
            <a:endParaRPr sz="1200">
              <a:latin typeface="Comic Sans MS"/>
              <a:cs typeface="Comic Sans MS"/>
            </a:endParaRPr>
          </a:p>
          <a:p>
            <a:pPr marL="468630" marR="148590" indent="-227329">
              <a:lnSpc>
                <a:spcPct val="130700"/>
              </a:lnSpc>
              <a:spcBef>
                <a:spcPts val="1130"/>
              </a:spcBef>
              <a:buFont typeface="MS PGothic"/>
              <a:buChar char="➔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Mastercard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handles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millions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transactions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daily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worldwide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 from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 </a:t>
            </a:r>
            <a:r>
              <a:rPr dirty="0" sz="1200" spc="-10">
                <a:latin typeface="Arial"/>
                <a:cs typeface="Arial"/>
              </a:rPr>
              <a:t>cards, </a:t>
            </a:r>
            <a:r>
              <a:rPr dirty="0" sz="1200" spc="-10">
                <a:latin typeface="Arial"/>
                <a:cs typeface="Arial"/>
              </a:rPr>
              <a:t>	</a:t>
            </a:r>
            <a:r>
              <a:rPr dirty="0" sz="1200" spc="-20">
                <a:latin typeface="Arial"/>
                <a:cs typeface="Arial"/>
              </a:rPr>
              <a:t>ATMs,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online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payments.</a:t>
            </a:r>
            <a:endParaRPr sz="1200">
              <a:latin typeface="Arial"/>
              <a:cs typeface="Arial"/>
            </a:endParaRPr>
          </a:p>
          <a:p>
            <a:pPr marL="468630" marR="5080" indent="-227329">
              <a:lnSpc>
                <a:spcPct val="130700"/>
              </a:lnSpc>
              <a:buFont typeface="MS PGothic"/>
              <a:buChar char="➔"/>
              <a:tabLst>
                <a:tab pos="469900" algn="l"/>
              </a:tabLst>
            </a:pPr>
            <a:r>
              <a:rPr dirty="0" sz="1200" spc="-45">
                <a:latin typeface="Arial"/>
                <a:cs typeface="Arial"/>
              </a:rPr>
              <a:t>Each</a:t>
            </a:r>
            <a:r>
              <a:rPr dirty="0" sz="1200">
                <a:latin typeface="Arial"/>
                <a:cs typeface="Arial"/>
              </a:rPr>
              <a:t> transaction includes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details like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amount,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location,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merchant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type,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time,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device </a:t>
            </a:r>
            <a:r>
              <a:rPr dirty="0" sz="1200" spc="-25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ID,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user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history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468630" marR="400685" indent="-227329">
              <a:lnSpc>
                <a:spcPct val="130700"/>
              </a:lnSpc>
              <a:buFont typeface="MS PGothic"/>
              <a:buChar char="➔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Managing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massive,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fast-</a:t>
            </a:r>
            <a:r>
              <a:rPr dirty="0" sz="1200" spc="55">
                <a:latin typeface="Arial"/>
                <a:cs typeface="Arial"/>
              </a:rPr>
              <a:t>ﬂowing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requires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55" b="1">
                <a:latin typeface="Arial"/>
                <a:cs typeface="Arial"/>
              </a:rPr>
              <a:t>accuracy,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security,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spc="-25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real-time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processing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3100" y="9163815"/>
            <a:ext cx="2701290" cy="591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Problem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Statement</a:t>
            </a:r>
            <a:endParaRPr sz="1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company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faces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challenges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such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as: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269210" y="977627"/>
            <a:ext cx="5076825" cy="2876550"/>
            <a:chOff x="1269210" y="977627"/>
            <a:chExt cx="5076825" cy="287655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972" y="987152"/>
              <a:ext cx="5057775" cy="28574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69210" y="977627"/>
              <a:ext cx="5076825" cy="2876550"/>
            </a:xfrm>
            <a:custGeom>
              <a:avLst/>
              <a:gdLst/>
              <a:ahLst/>
              <a:cxnLst/>
              <a:rect l="l" t="t" r="r" b="b"/>
              <a:pathLst>
                <a:path w="5076825" h="2876550">
                  <a:moveTo>
                    <a:pt x="0" y="4762"/>
                  </a:moveTo>
                  <a:lnTo>
                    <a:pt x="5072062" y="4762"/>
                  </a:lnTo>
                </a:path>
                <a:path w="5076825" h="2876550">
                  <a:moveTo>
                    <a:pt x="5072062" y="0"/>
                  </a:moveTo>
                  <a:lnTo>
                    <a:pt x="5072062" y="2871787"/>
                  </a:lnTo>
                </a:path>
                <a:path w="5076825" h="2876550">
                  <a:moveTo>
                    <a:pt x="5076825" y="2871787"/>
                  </a:moveTo>
                  <a:lnTo>
                    <a:pt x="4762" y="2871787"/>
                  </a:lnTo>
                </a:path>
                <a:path w="5076825" h="2876550">
                  <a:moveTo>
                    <a:pt x="4762" y="2876550"/>
                  </a:moveTo>
                  <a:lnTo>
                    <a:pt x="4762" y="47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91381"/>
            <a:ext cx="5724525" cy="12211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spc="-35" b="1">
                <a:latin typeface="Arial"/>
                <a:cs typeface="Arial"/>
              </a:rPr>
              <a:t>Rising</a:t>
            </a:r>
            <a:r>
              <a:rPr dirty="0" sz="1200" b="1">
                <a:latin typeface="Arial"/>
                <a:cs typeface="Arial"/>
              </a:rPr>
              <a:t> fraudulent </a:t>
            </a:r>
            <a:r>
              <a:rPr dirty="0" sz="1200" spc="-30" b="1">
                <a:latin typeface="Arial"/>
                <a:cs typeface="Arial"/>
              </a:rPr>
              <a:t>transactions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suspicious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payment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patterns.</a:t>
            </a:r>
            <a:endParaRPr sz="1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45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spc="-35" b="1">
                <a:latin typeface="Arial"/>
                <a:cs typeface="Arial"/>
              </a:rPr>
              <a:t>Inconsistent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multiple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systems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countries.</a:t>
            </a:r>
            <a:endParaRPr sz="1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b="1">
                <a:latin typeface="Arial"/>
                <a:cs typeface="Arial"/>
              </a:rPr>
              <a:t>Difﬁculty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real-time fraud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detection</a:t>
            </a:r>
            <a:r>
              <a:rPr dirty="0" sz="1200" spc="-25">
                <a:latin typeface="Arial"/>
                <a:cs typeface="Arial"/>
              </a:rPr>
              <a:t>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streams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every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second.</a:t>
            </a:r>
            <a:endParaRPr sz="1200">
              <a:latin typeface="Arial"/>
              <a:cs typeface="Arial"/>
            </a:endParaRPr>
          </a:p>
          <a:p>
            <a:pPr marL="241300" marR="5080" indent="-228600">
              <a:lnSpc>
                <a:spcPct val="130700"/>
              </a:lnSpc>
              <a:buChar char="●"/>
              <a:tabLst>
                <a:tab pos="241300" algn="l"/>
              </a:tabLst>
            </a:pPr>
            <a:r>
              <a:rPr dirty="0" sz="1200" spc="70">
                <a:latin typeface="Arial"/>
                <a:cs typeface="Arial"/>
              </a:rPr>
              <a:t>A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need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machine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learning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identify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block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fraud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instantly before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payment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approval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2756535"/>
            <a:ext cx="5473065" cy="169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What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the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Data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Science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Team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Does</a:t>
            </a:r>
            <a:endParaRPr sz="1200">
              <a:latin typeface="Comic Sans MS"/>
              <a:cs typeface="Comic Sans MS"/>
            </a:endParaRPr>
          </a:p>
          <a:p>
            <a:pPr marL="12700" marR="5080">
              <a:lnSpc>
                <a:spcPct val="130700"/>
              </a:lnSpc>
              <a:spcBef>
                <a:spcPts val="1130"/>
              </a:spcBef>
            </a:pPr>
            <a:r>
              <a:rPr dirty="0" sz="1200" spc="-6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tackle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Mastercard’s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scientists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engineers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start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65">
                <a:latin typeface="Arial"/>
                <a:cs typeface="Arial"/>
              </a:rPr>
              <a:t>with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 </a:t>
            </a:r>
            <a:r>
              <a:rPr dirty="0" sz="1200" spc="-25" b="1">
                <a:latin typeface="Arial"/>
                <a:cs typeface="Arial"/>
              </a:rPr>
              <a:t>engineering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most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critical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step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before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training.</a:t>
            </a:r>
            <a:endParaRPr sz="1200">
              <a:latin typeface="Arial"/>
              <a:cs typeface="Arial"/>
            </a:endParaRPr>
          </a:p>
          <a:p>
            <a:pPr marL="12700" marR="32384">
              <a:lnSpc>
                <a:spcPct val="130700"/>
              </a:lnSpc>
              <a:spcBef>
                <a:spcPts val="1200"/>
              </a:spcBef>
            </a:pPr>
            <a:r>
              <a:rPr dirty="0" sz="1200">
                <a:latin typeface="Arial"/>
                <a:cs typeface="Arial"/>
              </a:rPr>
              <a:t>They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can’t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feed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directly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ML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it’s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noisy, </a:t>
            </a:r>
            <a:r>
              <a:rPr dirty="0" sz="1200">
                <a:latin typeface="Arial"/>
                <a:cs typeface="Arial"/>
              </a:rPr>
              <a:t>inconsistent,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 </a:t>
            </a:r>
            <a:r>
              <a:rPr dirty="0" sz="1200" spc="-10">
                <a:latin typeface="Arial"/>
                <a:cs typeface="Arial"/>
              </a:rPr>
              <a:t>incomplete.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 spc="-10">
                <a:latin typeface="Arial"/>
                <a:cs typeface="Arial"/>
              </a:rPr>
              <a:t>So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perform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make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</a:t>
            </a:r>
            <a:r>
              <a:rPr dirty="0" sz="1200" i="1">
                <a:latin typeface="Arial"/>
                <a:cs typeface="Arial"/>
              </a:rPr>
              <a:t>model</a:t>
            </a:r>
            <a:r>
              <a:rPr dirty="0" sz="1200">
                <a:latin typeface="Arial"/>
                <a:cs typeface="Arial"/>
              </a:rPr>
              <a:t>-</a:t>
            </a:r>
            <a:r>
              <a:rPr dirty="0" sz="1200" spc="-10" i="1">
                <a:latin typeface="Arial"/>
                <a:cs typeface="Arial"/>
              </a:rPr>
              <a:t>ready</a:t>
            </a:r>
            <a:r>
              <a:rPr dirty="0" sz="1200" spc="-10">
                <a:latin typeface="Arial"/>
                <a:cs typeface="Arial"/>
              </a:rPr>
              <a:t>.”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3100" y="5103269"/>
            <a:ext cx="5531485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Feature</a:t>
            </a:r>
            <a:r>
              <a:rPr dirty="0" u="sng" sz="1400" spc="-5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Engineering</a:t>
            </a:r>
            <a:r>
              <a:rPr dirty="0" u="sng" sz="1400" spc="-6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on</a:t>
            </a:r>
            <a:r>
              <a:rPr dirty="0" u="sng" sz="1400" spc="-7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400" spc="-1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Comic Sans MS"/>
                <a:cs typeface="Comic Sans MS"/>
              </a:rPr>
              <a:t>Mastercard</a:t>
            </a:r>
            <a:r>
              <a:rPr dirty="0" u="sng" sz="1400" spc="-55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Transaction</a:t>
            </a:r>
            <a:r>
              <a:rPr dirty="0" u="sng" sz="1400" spc="-55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dirty="0" u="sng" sz="1400" spc="-2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Data</a:t>
            </a:r>
            <a:endParaRPr sz="1400">
              <a:latin typeface="Comic Sans MS"/>
              <a:cs typeface="Comic Sans MS"/>
            </a:endParaRPr>
          </a:p>
          <a:p>
            <a:pPr marL="12700" marR="5080">
              <a:lnSpc>
                <a:spcPct val="130700"/>
              </a:lnSpc>
              <a:spcBef>
                <a:spcPts val="1190"/>
              </a:spcBef>
            </a:pPr>
            <a:r>
              <a:rPr dirty="0" sz="1200" spc="-20">
                <a:latin typeface="Arial"/>
                <a:cs typeface="Arial"/>
              </a:rPr>
              <a:t>Once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collected,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5" b="1">
                <a:latin typeface="Arial"/>
                <a:cs typeface="Arial"/>
              </a:rPr>
              <a:t>science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team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begins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 </a:t>
            </a:r>
            <a:r>
              <a:rPr dirty="0" sz="1200" spc="-25" b="1">
                <a:latin typeface="Arial"/>
                <a:cs typeface="Arial"/>
              </a:rPr>
              <a:t>engineering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prepare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fraud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detection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model.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3100" y="6526043"/>
            <a:ext cx="6163310" cy="153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67005" algn="l"/>
              </a:tabLst>
            </a:pP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Cleaning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 spc="-20">
                <a:latin typeface="Arial"/>
                <a:cs typeface="Arial"/>
              </a:rPr>
              <a:t>Remove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duplicate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incomplete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transactions.</a:t>
            </a:r>
            <a:endParaRPr sz="12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spcBef>
                <a:spcPts val="440"/>
              </a:spcBef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Standardize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date,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time,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currency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formats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across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countries.</a:t>
            </a:r>
            <a:endParaRPr sz="1200">
              <a:latin typeface="Arial"/>
              <a:cs typeface="Arial"/>
            </a:endParaRPr>
          </a:p>
          <a:p>
            <a:pPr lvl="1" marL="469900" marR="5080" indent="-228600">
              <a:lnSpc>
                <a:spcPct val="130700"/>
              </a:lnSpc>
              <a:spcBef>
                <a:spcPts val="5"/>
              </a:spcBef>
              <a:buChar char="●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Fix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missing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40">
                <a:latin typeface="Arial"/>
                <a:cs typeface="Arial"/>
              </a:rPr>
              <a:t>(e.g.,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merchant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location)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imputation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reliable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reference data.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5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Clean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ensures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reliability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prevents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false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fraud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alerts.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3100" y="8484305"/>
            <a:ext cx="613092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67005" algn="l"/>
              </a:tabLst>
            </a:pPr>
            <a:r>
              <a:rPr dirty="0" sz="1100" spc="-10" b="1">
                <a:latin typeface="Arial"/>
                <a:cs typeface="Arial"/>
              </a:rPr>
              <a:t>Handling </a:t>
            </a:r>
            <a:r>
              <a:rPr dirty="0" sz="1100" spc="-35" b="1">
                <a:latin typeface="Arial"/>
                <a:cs typeface="Arial"/>
              </a:rPr>
              <a:t>Missing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eriod" startAt="2"/>
            </a:pPr>
            <a:endParaRPr sz="11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Fill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missing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merchant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types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locations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user's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past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behavior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averages.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35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Maintains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completeness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consistency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training.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947410"/>
            <a:ext cx="6076950" cy="105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167005" algn="l"/>
              </a:tabLst>
            </a:pPr>
            <a:r>
              <a:rPr dirty="0" sz="1100" spc="-50" b="1">
                <a:latin typeface="Arial"/>
                <a:cs typeface="Arial"/>
              </a:rPr>
              <a:t>Encoding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Categorical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lvl="1" marL="469900" marR="5080" indent="-228600">
              <a:lnSpc>
                <a:spcPct val="130700"/>
              </a:lnSpc>
              <a:spcBef>
                <a:spcPts val="1165"/>
              </a:spcBef>
              <a:buChar char="●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Convert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text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columns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“merchant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type”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“payment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mode”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numerical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form </a:t>
            </a:r>
            <a:r>
              <a:rPr dirty="0" sz="1200">
                <a:latin typeface="Arial"/>
                <a:cs typeface="Arial"/>
              </a:rPr>
              <a:t>using </a:t>
            </a:r>
            <a:r>
              <a:rPr dirty="0" sz="1200" b="1">
                <a:latin typeface="Arial"/>
                <a:cs typeface="Arial"/>
              </a:rPr>
              <a:t>one-hot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label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encoding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5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ML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understand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numbers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better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text.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9265764"/>
            <a:ext cx="11874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4.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Feature</a:t>
            </a:r>
            <a:r>
              <a:rPr dirty="0" sz="1100" spc="-10" b="1">
                <a:latin typeface="Arial"/>
                <a:cs typeface="Arial"/>
              </a:rPr>
              <a:t> Scaling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868" y="2683175"/>
            <a:ext cx="5832971" cy="598069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91378"/>
            <a:ext cx="5889625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30700"/>
              </a:lnSpc>
              <a:spcBef>
                <a:spcPts val="100"/>
              </a:spcBef>
              <a:buChar char="●"/>
              <a:tabLst>
                <a:tab pos="241300" algn="l"/>
              </a:tabLst>
            </a:pPr>
            <a:r>
              <a:rPr dirty="0" sz="1200">
                <a:latin typeface="Arial"/>
                <a:cs typeface="Arial"/>
              </a:rPr>
              <a:t>Normalize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standardize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amount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time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gap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40">
                <a:latin typeface="Arial"/>
                <a:cs typeface="Arial"/>
              </a:rPr>
              <a:t>(e.g.,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using </a:t>
            </a:r>
            <a:r>
              <a:rPr dirty="0" sz="1200">
                <a:latin typeface="Arial"/>
                <a:cs typeface="Arial"/>
              </a:rPr>
              <a:t>Z-</a:t>
            </a:r>
            <a:r>
              <a:rPr dirty="0" sz="1200" spc="-10">
                <a:latin typeface="Arial"/>
                <a:cs typeface="Arial"/>
              </a:rPr>
              <a:t>score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Min-Max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scaling).</a:t>
            </a:r>
            <a:endParaRPr sz="1200">
              <a:latin typeface="Arial"/>
              <a:cs typeface="Arial"/>
            </a:endParaRPr>
          </a:p>
          <a:p>
            <a:pPr marL="280035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6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Prevents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large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numerical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dominating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smaller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2447490"/>
            <a:ext cx="6151245" cy="1297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167005" algn="l"/>
              </a:tabLst>
            </a:pPr>
            <a:r>
              <a:rPr dirty="0" sz="1100" spc="-20" b="1">
                <a:latin typeface="Arial"/>
                <a:cs typeface="Arial"/>
              </a:rPr>
              <a:t>Feature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Transformation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eriod" startAt="5"/>
            </a:pPr>
            <a:endParaRPr sz="11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Apply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log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power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transformations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reduce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skewness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amounts.</a:t>
            </a:r>
            <a:endParaRPr sz="1200">
              <a:latin typeface="Arial"/>
              <a:cs typeface="Arial"/>
            </a:endParaRPr>
          </a:p>
          <a:p>
            <a:pPr lvl="1" marL="469900" marR="393700" indent="-228600">
              <a:lnSpc>
                <a:spcPct val="130700"/>
              </a:lnSpc>
              <a:buChar char="●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Convert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timestamps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parts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hour</a:t>
            </a:r>
            <a:r>
              <a:rPr dirty="0" sz="1200" spc="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of</a:t>
            </a:r>
            <a:r>
              <a:rPr dirty="0" sz="1200" spc="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day</a:t>
            </a:r>
            <a:r>
              <a:rPr dirty="0" sz="1200" spc="4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day</a:t>
            </a:r>
            <a:r>
              <a:rPr dirty="0" sz="1200" spc="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of</a:t>
            </a:r>
            <a:r>
              <a:rPr dirty="0" sz="1200" spc="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week</a:t>
            </a:r>
            <a:r>
              <a:rPr dirty="0" sz="1200" spc="4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better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trend detection.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75" i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Makes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normally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distributed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interpretable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model.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3100" y="4166690"/>
            <a:ext cx="5563235" cy="1775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167005" algn="l"/>
              </a:tabLst>
            </a:pPr>
            <a:r>
              <a:rPr dirty="0" sz="1100" spc="-20" b="1">
                <a:latin typeface="Arial"/>
                <a:cs typeface="Arial"/>
              </a:rPr>
              <a:t>Feature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Creation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eriod" startAt="6"/>
            </a:pPr>
            <a:endParaRPr sz="11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Derive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new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as: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944"/>
              </a:spcBef>
              <a:buFont typeface="Arial"/>
              <a:buChar char="●"/>
            </a:pPr>
            <a:endParaRPr sz="1200">
              <a:latin typeface="Arial"/>
              <a:cs typeface="Arial"/>
            </a:endParaRPr>
          </a:p>
          <a:p>
            <a:pPr lvl="2" marL="926465" indent="-22796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dirty="0" sz="1200">
                <a:latin typeface="Arial"/>
                <a:cs typeface="Arial"/>
              </a:rPr>
              <a:t>Number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last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5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minutes</a:t>
            </a:r>
            <a:endParaRPr sz="1200">
              <a:latin typeface="Arial"/>
              <a:cs typeface="Arial"/>
            </a:endParaRPr>
          </a:p>
          <a:p>
            <a:pPr lvl="2" marL="926465" indent="-227965">
              <a:lnSpc>
                <a:spcPct val="100000"/>
              </a:lnSpc>
              <a:spcBef>
                <a:spcPts val="440"/>
              </a:spcBef>
              <a:buChar char="○"/>
              <a:tabLst>
                <a:tab pos="926465" algn="l"/>
              </a:tabLst>
            </a:pPr>
            <a:r>
              <a:rPr dirty="0" sz="1200">
                <a:latin typeface="Arial"/>
                <a:cs typeface="Arial"/>
              </a:rPr>
              <a:t>Average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daily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  <a:p>
            <a:pPr lvl="2" marL="926465" indent="-227965">
              <a:lnSpc>
                <a:spcPct val="100000"/>
              </a:lnSpc>
              <a:spcBef>
                <a:spcPts val="445"/>
              </a:spcBef>
              <a:buChar char="○"/>
              <a:tabLst>
                <a:tab pos="926465" algn="l"/>
              </a:tabLst>
            </a:pP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between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current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last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location</a:t>
            </a:r>
            <a:endParaRPr sz="1200">
              <a:latin typeface="Arial"/>
              <a:cs typeface="Arial"/>
            </a:endParaRPr>
          </a:p>
          <a:p>
            <a:pPr marL="965835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45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Captures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behavioral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detect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unusual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activity.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3100" y="6364007"/>
            <a:ext cx="6109970" cy="105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167005" algn="l"/>
              </a:tabLst>
            </a:pPr>
            <a:r>
              <a:rPr dirty="0" sz="1100" spc="-20" b="1">
                <a:latin typeface="Arial"/>
                <a:cs typeface="Arial"/>
              </a:rPr>
              <a:t>Feature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Extraction</a:t>
            </a:r>
            <a:endParaRPr sz="1100">
              <a:latin typeface="Arial"/>
              <a:cs typeface="Arial"/>
            </a:endParaRPr>
          </a:p>
          <a:p>
            <a:pPr lvl="1" marL="469900" marR="5080" indent="-228600">
              <a:lnSpc>
                <a:spcPct val="130700"/>
              </a:lnSpc>
              <a:spcBef>
                <a:spcPts val="1165"/>
              </a:spcBef>
              <a:buChar char="●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mathematical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statistical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methods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(like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PCA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embedding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models)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derive </a:t>
            </a:r>
            <a:r>
              <a:rPr dirty="0" sz="1200">
                <a:latin typeface="Arial"/>
                <a:cs typeface="Arial"/>
              </a:rPr>
              <a:t>compact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representations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high-dimensional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50" i="1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Reduces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noise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highlights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most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useful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information.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3100" y="7844158"/>
            <a:ext cx="524700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8"/>
              <a:tabLst>
                <a:tab pos="167005" algn="l"/>
              </a:tabLst>
            </a:pPr>
            <a:r>
              <a:rPr dirty="0" sz="1100" b="1">
                <a:latin typeface="Arial"/>
                <a:cs typeface="Arial"/>
              </a:rPr>
              <a:t>Outlier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eriod" startAt="8"/>
            </a:pPr>
            <a:endParaRPr sz="11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>
                <a:latin typeface="Arial"/>
                <a:cs typeface="Arial"/>
              </a:rPr>
              <a:t>Detects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treats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extreme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transaction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amounts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IQR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z-</a:t>
            </a:r>
            <a:r>
              <a:rPr dirty="0" sz="1200" spc="-30" b="1">
                <a:latin typeface="Arial"/>
                <a:cs typeface="Arial"/>
              </a:rPr>
              <a:t>score</a:t>
            </a:r>
            <a:r>
              <a:rPr dirty="0" sz="1200" spc="-3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508634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45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Prevents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anomalies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skewing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predictions.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73100" y="9085260"/>
            <a:ext cx="13138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9.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Feature</a:t>
            </a:r>
            <a:r>
              <a:rPr dirty="0" sz="1100" spc="-10" b="1">
                <a:latin typeface="Arial"/>
                <a:cs typeface="Arial"/>
              </a:rPr>
              <a:t> Selection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91378"/>
            <a:ext cx="5531485" cy="981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30700"/>
              </a:lnSpc>
              <a:spcBef>
                <a:spcPts val="100"/>
              </a:spcBef>
              <a:buChar char="●"/>
              <a:tabLst>
                <a:tab pos="241300" algn="l"/>
              </a:tabLst>
            </a:pPr>
            <a:r>
              <a:rPr dirty="0" sz="1200">
                <a:latin typeface="Arial"/>
                <a:cs typeface="Arial"/>
              </a:rPr>
              <a:t>Drop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irrelevant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repetitive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columns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(like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anonymized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card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75">
                <a:latin typeface="Arial"/>
                <a:cs typeface="Arial"/>
              </a:rPr>
              <a:t>low-</a:t>
            </a:r>
            <a:r>
              <a:rPr dirty="0" sz="1200" spc="-10">
                <a:latin typeface="Arial"/>
                <a:cs typeface="Arial"/>
              </a:rPr>
              <a:t>impact features).</a:t>
            </a:r>
            <a:endParaRPr sz="1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Char char="●"/>
              <a:tabLst>
                <a:tab pos="240665" algn="l"/>
              </a:tabLst>
            </a:pP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correlation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checks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importance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scores.</a:t>
            </a:r>
            <a:endParaRPr sz="1200">
              <a:latin typeface="Arial"/>
              <a:cs typeface="Arial"/>
            </a:endParaRPr>
          </a:p>
          <a:p>
            <a:pPr marL="280035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Intuition:</a:t>
            </a:r>
            <a:r>
              <a:rPr dirty="0" sz="1200" spc="45" i="1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Keeps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what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truly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adds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performance.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23900" y="2686052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73100" y="3242858"/>
            <a:ext cx="6061710" cy="226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700" spc="295" b="1">
                <a:solidFill>
                  <a:srgbClr val="731B46"/>
                </a:solidFill>
                <a:latin typeface="Calibri"/>
                <a:cs typeface="Calibri"/>
              </a:rPr>
              <a:t>EDA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10" b="1">
                <a:solidFill>
                  <a:srgbClr val="731B46"/>
                </a:solidFill>
                <a:latin typeface="Calibri"/>
                <a:cs typeface="Calibri"/>
              </a:rPr>
              <a:t>vs</a:t>
            </a:r>
            <a:r>
              <a:rPr dirty="0" sz="1700" spc="11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95" b="1">
                <a:solidFill>
                  <a:srgbClr val="731B46"/>
                </a:solidFill>
                <a:latin typeface="Calibri"/>
                <a:cs typeface="Calibri"/>
              </a:rPr>
              <a:t>Feature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25" b="1">
                <a:solidFill>
                  <a:srgbClr val="731B46"/>
                </a:solidFill>
                <a:latin typeface="Calibri"/>
                <a:cs typeface="Calibri"/>
              </a:rPr>
              <a:t>Engineering</a:t>
            </a:r>
            <a:endParaRPr sz="1700">
              <a:latin typeface="Calibri"/>
              <a:cs typeface="Calibri"/>
            </a:endParaRPr>
          </a:p>
          <a:p>
            <a:pPr algn="just" marL="12700" marR="5080">
              <a:lnSpc>
                <a:spcPct val="133500"/>
              </a:lnSpc>
              <a:spcBef>
                <a:spcPts val="1920"/>
              </a:spcBef>
            </a:pPr>
            <a:r>
              <a:rPr dirty="0" sz="1200" i="1">
                <a:latin typeface="Comic Sans MS"/>
                <a:cs typeface="Comic Sans MS"/>
              </a:rPr>
              <a:t>If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we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already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explore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data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during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EDA,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then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where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exactly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does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feature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spc="-10" i="1">
                <a:latin typeface="Comic Sans MS"/>
                <a:cs typeface="Comic Sans MS"/>
              </a:rPr>
              <a:t>engineering</a:t>
            </a:r>
            <a:r>
              <a:rPr dirty="0" sz="1200" spc="-10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fit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in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—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is it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part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of EDA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or</a:t>
            </a:r>
            <a:r>
              <a:rPr dirty="0" sz="1200" spc="-5" i="1">
                <a:latin typeface="Comic Sans MS"/>
                <a:cs typeface="Comic Sans MS"/>
              </a:rPr>
              <a:t> </a:t>
            </a:r>
            <a:r>
              <a:rPr dirty="0" sz="1200" i="1">
                <a:latin typeface="Comic Sans MS"/>
                <a:cs typeface="Comic Sans MS"/>
              </a:rPr>
              <a:t>model </a:t>
            </a:r>
            <a:r>
              <a:rPr dirty="0" sz="1200" spc="-10" i="1">
                <a:latin typeface="Comic Sans MS"/>
                <a:cs typeface="Comic Sans MS"/>
              </a:rPr>
              <a:t>building?</a:t>
            </a:r>
            <a:endParaRPr sz="1200">
              <a:latin typeface="Comic Sans MS"/>
              <a:cs typeface="Comic Sans MS"/>
            </a:endParaRPr>
          </a:p>
          <a:p>
            <a:pPr algn="just" marL="12700">
              <a:lnSpc>
                <a:spcPct val="100000"/>
              </a:lnSpc>
              <a:spcBef>
                <a:spcPts val="1570"/>
              </a:spcBef>
            </a:pPr>
            <a:r>
              <a:rPr dirty="0" sz="1200" spc="-10">
                <a:latin typeface="Arial"/>
                <a:cs typeface="Arial"/>
              </a:rPr>
              <a:t>Feature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technically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bridge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between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EDA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10" b="1">
                <a:latin typeface="Arial"/>
                <a:cs typeface="Arial"/>
              </a:rPr>
              <a:t> building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algn="just" marL="12700" marR="436245">
              <a:lnSpc>
                <a:spcPct val="130700"/>
              </a:lnSpc>
              <a:spcBef>
                <a:spcPts val="1205"/>
              </a:spcBef>
            </a:pPr>
            <a:r>
              <a:rPr dirty="0" sz="1200" spc="-20">
                <a:latin typeface="Arial"/>
                <a:cs typeface="Arial"/>
              </a:rPr>
              <a:t>Technically,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explore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understand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during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EDA,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create</a:t>
            </a:r>
            <a:r>
              <a:rPr dirty="0" sz="1200" spc="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and</a:t>
            </a:r>
            <a:r>
              <a:rPr dirty="0" sz="1200" spc="2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reﬁne</a:t>
            </a:r>
            <a:r>
              <a:rPr dirty="0" sz="1200" spc="-1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features</a:t>
            </a:r>
            <a:r>
              <a:rPr dirty="0" sz="1200" spc="30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during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make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usable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machine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learning models.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59660" y="6121337"/>
            <a:ext cx="5105400" cy="2867025"/>
            <a:chOff x="1059660" y="6121337"/>
            <a:chExt cx="5105400" cy="286702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185" y="6126100"/>
              <a:ext cx="5086350" cy="284797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59660" y="6121337"/>
              <a:ext cx="5105400" cy="2867025"/>
            </a:xfrm>
            <a:custGeom>
              <a:avLst/>
              <a:gdLst/>
              <a:ahLst/>
              <a:cxnLst/>
              <a:rect l="l" t="t" r="r" b="b"/>
              <a:pathLst>
                <a:path w="5105400" h="2867025">
                  <a:moveTo>
                    <a:pt x="0" y="4762"/>
                  </a:moveTo>
                  <a:lnTo>
                    <a:pt x="5100637" y="4762"/>
                  </a:lnTo>
                </a:path>
                <a:path w="5105400" h="2867025">
                  <a:moveTo>
                    <a:pt x="5100637" y="0"/>
                  </a:moveTo>
                  <a:lnTo>
                    <a:pt x="5100637" y="2862262"/>
                  </a:lnTo>
                </a:path>
                <a:path w="5105400" h="2867025">
                  <a:moveTo>
                    <a:pt x="5105400" y="2862262"/>
                  </a:moveTo>
                  <a:lnTo>
                    <a:pt x="4762" y="2862262"/>
                  </a:lnTo>
                </a:path>
                <a:path w="5105400" h="2867025">
                  <a:moveTo>
                    <a:pt x="4762" y="2867025"/>
                  </a:moveTo>
                  <a:lnTo>
                    <a:pt x="4762" y="47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1282833"/>
            <a:ext cx="6040755" cy="50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So,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it’s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EDA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itself</a:t>
            </a:r>
            <a:r>
              <a:rPr dirty="0" sz="1200" spc="-10">
                <a:latin typeface="Arial"/>
                <a:cs typeface="Arial"/>
              </a:rPr>
              <a:t>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crucial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part 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preparation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phase</a:t>
            </a:r>
            <a:r>
              <a:rPr dirty="0" sz="1200" spc="-35">
                <a:latin typeface="Arial"/>
                <a:cs typeface="Arial"/>
              </a:rPr>
              <a:t>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guided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by </a:t>
            </a:r>
            <a:r>
              <a:rPr dirty="0" sz="1200">
                <a:latin typeface="Arial"/>
                <a:cs typeface="Arial"/>
              </a:rPr>
              <a:t>insights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discovered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EDA.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5573002"/>
            <a:ext cx="5955665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Hence,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practice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well,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keep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EDA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model-</a:t>
            </a:r>
            <a:r>
              <a:rPr dirty="0" sz="1200" spc="-20" b="1">
                <a:latin typeface="Arial"/>
                <a:cs typeface="Arial"/>
              </a:rPr>
              <a:t>building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separate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40" b="1">
                <a:latin typeface="Arial"/>
                <a:cs typeface="Arial"/>
              </a:rPr>
              <a:t>notebooks</a:t>
            </a:r>
            <a:r>
              <a:rPr dirty="0" sz="1200" spc="-40">
                <a:latin typeface="Arial"/>
                <a:cs typeface="Arial"/>
              </a:rPr>
              <a:t>.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EDA </a:t>
            </a:r>
            <a:r>
              <a:rPr dirty="0" sz="1200" spc="-10">
                <a:latin typeface="Arial"/>
                <a:cs typeface="Arial"/>
              </a:rPr>
              <a:t>focuses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understanding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visualizing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data,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while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notebooks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handle </a:t>
            </a:r>
            <a:r>
              <a:rPr dirty="0" sz="1200">
                <a:latin typeface="Arial"/>
                <a:cs typeface="Arial"/>
              </a:rPr>
              <a:t>preprocessing,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training.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separation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keeps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workﬂows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clean, modular,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easier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0" b="1">
                <a:latin typeface="Arial"/>
                <a:cs typeface="Arial"/>
              </a:rPr>
              <a:t> debug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reuse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23900" y="7448546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73100" y="8074724"/>
            <a:ext cx="6191885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254" b="1">
                <a:solidFill>
                  <a:srgbClr val="731B46"/>
                </a:solidFill>
                <a:latin typeface="Calibri"/>
                <a:cs typeface="Calibri"/>
              </a:rPr>
              <a:t>What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04" b="1">
                <a:solidFill>
                  <a:srgbClr val="731B46"/>
                </a:solidFill>
                <a:latin typeface="Calibri"/>
                <a:cs typeface="Calibri"/>
              </a:rPr>
              <a:t>next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55" b="1">
                <a:solidFill>
                  <a:srgbClr val="731B46"/>
                </a:solidFill>
                <a:latin typeface="Calibri"/>
                <a:cs typeface="Calibri"/>
              </a:rPr>
              <a:t>after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70" b="1">
                <a:solidFill>
                  <a:srgbClr val="731B46"/>
                </a:solidFill>
                <a:latin typeface="Calibri"/>
                <a:cs typeface="Calibri"/>
              </a:rPr>
              <a:t>feature</a:t>
            </a:r>
            <a:r>
              <a:rPr dirty="0" sz="1700" spc="105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15" b="1">
                <a:solidFill>
                  <a:srgbClr val="731B46"/>
                </a:solidFill>
                <a:latin typeface="Calibri"/>
                <a:cs typeface="Calibri"/>
              </a:rPr>
              <a:t>engineering?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1200">
                <a:latin typeface="Arial"/>
                <a:cs typeface="Arial"/>
              </a:rPr>
              <a:t>After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engineering</a:t>
            </a:r>
            <a:r>
              <a:rPr dirty="0" sz="1200" spc="-30">
                <a:latin typeface="Arial"/>
                <a:cs typeface="Arial"/>
              </a:rPr>
              <a:t>,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usually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splitting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balancing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468630" marR="5080" indent="-227329">
              <a:lnSpc>
                <a:spcPct val="130700"/>
              </a:lnSpc>
              <a:spcBef>
                <a:spcPts val="1200"/>
              </a:spcBef>
              <a:buFont typeface="MS PGothic"/>
              <a:buChar char="➔"/>
              <a:tabLst>
                <a:tab pos="469900" algn="l"/>
              </a:tabLst>
            </a:pPr>
            <a:r>
              <a:rPr dirty="0" sz="1200">
                <a:latin typeface="Arial"/>
                <a:cs typeface="Arial"/>
              </a:rPr>
              <a:t>We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split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training,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validation,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test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sets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learns,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tunes, </a:t>
            </a:r>
            <a:r>
              <a:rPr dirty="0" sz="1200" spc="-10">
                <a:latin typeface="Arial"/>
                <a:cs typeface="Arial"/>
              </a:rPr>
              <a:t>	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ﬁnally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tested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unseen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overﬁtting.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574010" y="3173958"/>
            <a:ext cx="4457700" cy="2228850"/>
            <a:chOff x="1574010" y="3173958"/>
            <a:chExt cx="4457700" cy="222885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535" y="3183483"/>
              <a:ext cx="4438650" cy="22098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74010" y="3173958"/>
              <a:ext cx="4457700" cy="2228850"/>
            </a:xfrm>
            <a:custGeom>
              <a:avLst/>
              <a:gdLst/>
              <a:ahLst/>
              <a:cxnLst/>
              <a:rect l="l" t="t" r="r" b="b"/>
              <a:pathLst>
                <a:path w="4457700" h="2228850">
                  <a:moveTo>
                    <a:pt x="0" y="4762"/>
                  </a:moveTo>
                  <a:lnTo>
                    <a:pt x="4452937" y="4762"/>
                  </a:lnTo>
                </a:path>
                <a:path w="4457700" h="2228850">
                  <a:moveTo>
                    <a:pt x="4452937" y="0"/>
                  </a:moveTo>
                  <a:lnTo>
                    <a:pt x="4452937" y="2224087"/>
                  </a:lnTo>
                </a:path>
                <a:path w="4457700" h="2228850">
                  <a:moveTo>
                    <a:pt x="4457700" y="2224087"/>
                  </a:moveTo>
                  <a:lnTo>
                    <a:pt x="4762" y="2224087"/>
                  </a:lnTo>
                </a:path>
                <a:path w="4457700" h="2228850">
                  <a:moveTo>
                    <a:pt x="4762" y="2228850"/>
                  </a:moveTo>
                  <a:lnTo>
                    <a:pt x="4762" y="47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1147710"/>
            <a:ext cx="5738495" cy="50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marR="5080" indent="-227329">
              <a:lnSpc>
                <a:spcPct val="130700"/>
              </a:lnSpc>
              <a:spcBef>
                <a:spcPts val="100"/>
              </a:spcBef>
              <a:buFont typeface="MS PGothic"/>
              <a:buChar char="➔"/>
              <a:tabLst>
                <a:tab pos="241300" algn="l"/>
              </a:tabLst>
            </a:pPr>
            <a:r>
              <a:rPr dirty="0" sz="1200">
                <a:latin typeface="Arial"/>
                <a:cs typeface="Arial"/>
              </a:rPr>
              <a:t>Then,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balancing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oversampling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undersampling)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ﬁx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unequal </a:t>
            </a:r>
            <a:r>
              <a:rPr dirty="0" sz="1200" spc="-10">
                <a:latin typeface="Arial"/>
                <a:cs typeface="Arial"/>
              </a:rPr>
              <a:t>	</a:t>
            </a:r>
            <a:r>
              <a:rPr dirty="0" sz="1200">
                <a:latin typeface="Arial"/>
                <a:cs typeface="Arial"/>
              </a:rPr>
              <a:t>class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counts,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ensuring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doesn’t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get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biased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toward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majority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class.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5963595"/>
            <a:ext cx="6079490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07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steps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aren’t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part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because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don’t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change</a:t>
            </a:r>
            <a:r>
              <a:rPr dirty="0" sz="1200" spc="1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or</a:t>
            </a:r>
            <a:r>
              <a:rPr dirty="0" sz="1200" spc="2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create</a:t>
            </a:r>
            <a:r>
              <a:rPr dirty="0" sz="1200" spc="-1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features</a:t>
            </a:r>
            <a:r>
              <a:rPr dirty="0" sz="1200" spc="-5" i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 they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deal </a:t>
            </a:r>
            <a:r>
              <a:rPr dirty="0" sz="1200" spc="65">
                <a:latin typeface="Arial"/>
                <a:cs typeface="Arial"/>
              </a:rPr>
              <a:t>with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how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 is </a:t>
            </a:r>
            <a:r>
              <a:rPr dirty="0" sz="1200" spc="-25" b="1">
                <a:latin typeface="Arial"/>
                <a:cs typeface="Arial"/>
              </a:rPr>
              <a:t>organized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distributed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 fair,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effective </a:t>
            </a:r>
            <a:r>
              <a:rPr dirty="0" sz="1200" spc="-10">
                <a:latin typeface="Arial"/>
                <a:cs typeface="Arial"/>
              </a:rPr>
              <a:t>model training.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23900" y="7905747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73100" y="8531087"/>
            <a:ext cx="5375275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85" b="1">
                <a:solidFill>
                  <a:srgbClr val="731B46"/>
                </a:solidFill>
                <a:latin typeface="Calibri"/>
                <a:cs typeface="Calibri"/>
              </a:rPr>
              <a:t>FAQ’s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20" b="1">
                <a:solidFill>
                  <a:srgbClr val="731B46"/>
                </a:solidFill>
                <a:latin typeface="Calibri"/>
                <a:cs typeface="Calibri"/>
              </a:rPr>
              <a:t>regarding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170" b="1">
                <a:solidFill>
                  <a:srgbClr val="731B46"/>
                </a:solidFill>
                <a:latin typeface="Calibri"/>
                <a:cs typeface="Calibri"/>
              </a:rPr>
              <a:t>feature</a:t>
            </a:r>
            <a:r>
              <a:rPr dirty="0" sz="1700" spc="120" b="1">
                <a:solidFill>
                  <a:srgbClr val="731B46"/>
                </a:solidFill>
                <a:latin typeface="Calibri"/>
                <a:cs typeface="Calibri"/>
              </a:rPr>
              <a:t> </a:t>
            </a:r>
            <a:r>
              <a:rPr dirty="0" sz="1700" spc="215" b="1">
                <a:solidFill>
                  <a:srgbClr val="731B46"/>
                </a:solidFill>
                <a:latin typeface="Calibri"/>
                <a:cs typeface="Calibri"/>
              </a:rPr>
              <a:t>engineering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7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4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which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features </a:t>
            </a:r>
            <a:r>
              <a:rPr dirty="0" sz="1200" b="1">
                <a:latin typeface="Arial"/>
                <a:cs typeface="Arial"/>
              </a:rPr>
              <a:t>truly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impact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model’s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prediction?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709612" y="3435052"/>
            <a:ext cx="6257925" cy="1971675"/>
            <a:chOff x="709612" y="3435052"/>
            <a:chExt cx="6257925" cy="197167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" y="3447155"/>
              <a:ext cx="6238875" cy="194528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09612" y="3435052"/>
              <a:ext cx="6257925" cy="1971675"/>
            </a:xfrm>
            <a:custGeom>
              <a:avLst/>
              <a:gdLst/>
              <a:ahLst/>
              <a:cxnLst/>
              <a:rect l="l" t="t" r="r" b="b"/>
              <a:pathLst>
                <a:path w="6257925" h="1971675">
                  <a:moveTo>
                    <a:pt x="0" y="4762"/>
                  </a:moveTo>
                  <a:lnTo>
                    <a:pt x="6253162" y="4762"/>
                  </a:lnTo>
                </a:path>
                <a:path w="6257925" h="1971675">
                  <a:moveTo>
                    <a:pt x="6253162" y="0"/>
                  </a:moveTo>
                  <a:lnTo>
                    <a:pt x="6253162" y="1966912"/>
                  </a:lnTo>
                </a:path>
                <a:path w="6257925" h="1971675">
                  <a:moveTo>
                    <a:pt x="6257925" y="1966912"/>
                  </a:moveTo>
                  <a:lnTo>
                    <a:pt x="4762" y="1966912"/>
                  </a:lnTo>
                </a:path>
                <a:path w="6257925" h="1971675">
                  <a:moveTo>
                    <a:pt x="4762" y="1971674"/>
                  </a:moveTo>
                  <a:lnTo>
                    <a:pt x="4762" y="47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891378"/>
            <a:ext cx="6167755" cy="296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2395">
              <a:lnSpc>
                <a:spcPct val="1307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can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ﬁnd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impact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model’s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prediction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importance </a:t>
            </a:r>
            <a:r>
              <a:rPr dirty="0" sz="1200" spc="-35" b="1">
                <a:latin typeface="Arial"/>
                <a:cs typeface="Arial"/>
              </a:rPr>
              <a:t>techniques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coefﬁcients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linear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models),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importance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65" b="1">
                <a:latin typeface="Arial"/>
                <a:cs typeface="Arial"/>
              </a:rPr>
              <a:t>scores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(for </a:t>
            </a:r>
            <a:r>
              <a:rPr dirty="0" sz="1200">
                <a:latin typeface="Arial"/>
                <a:cs typeface="Arial"/>
              </a:rPr>
              <a:t>tree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models),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SHAP and </a:t>
            </a:r>
            <a:r>
              <a:rPr dirty="0" sz="1200" spc="-20" b="1">
                <a:latin typeface="Arial"/>
                <a:cs typeface="Arial"/>
              </a:rPr>
              <a:t>LIME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deeper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interpretability.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methods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show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how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much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each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contributes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model’s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output.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70534" indent="-229235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engineer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images,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audio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data?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  <a:spcBef>
                <a:spcPts val="1200"/>
              </a:spcBef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text,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images,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audio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converting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numerical </a:t>
            </a:r>
            <a:r>
              <a:rPr dirty="0" sz="1200" b="1">
                <a:latin typeface="Arial"/>
                <a:cs typeface="Arial"/>
              </a:rPr>
              <a:t>form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—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200" spc="-10">
                <a:latin typeface="Arial"/>
                <a:cs typeface="Arial"/>
              </a:rPr>
              <a:t>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text: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word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counts,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TF-</a:t>
            </a:r>
            <a:r>
              <a:rPr dirty="0" sz="1200" spc="-50">
                <a:latin typeface="Arial"/>
                <a:cs typeface="Arial"/>
              </a:rPr>
              <a:t>IDF,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embeddings.</a:t>
            </a:r>
            <a:endParaRPr sz="12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spcBef>
                <a:spcPts val="44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Arial"/>
                <a:cs typeface="Arial"/>
              </a:rPr>
              <a:t>For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images: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extract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pixel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deep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CNNs.</a:t>
            </a:r>
            <a:endParaRPr sz="1200">
              <a:latin typeface="Arial"/>
              <a:cs typeface="Arial"/>
            </a:endParaRPr>
          </a:p>
          <a:p>
            <a:pPr lvl="1" marL="469265" indent="-227965">
              <a:lnSpc>
                <a:spcPct val="100000"/>
              </a:lnSpc>
              <a:spcBef>
                <a:spcPts val="44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Arial"/>
                <a:cs typeface="Arial"/>
              </a:rPr>
              <a:t>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audio: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65">
                <a:latin typeface="Arial"/>
                <a:cs typeface="Arial"/>
              </a:rPr>
              <a:t>MFCCs,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pitch,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frequency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patterns.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4456283"/>
            <a:ext cx="6135370" cy="74295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465" b="1">
                <a:latin typeface="Arial"/>
                <a:cs typeface="Arial"/>
              </a:rPr>
              <a:t> </a:t>
            </a:r>
            <a:r>
              <a:rPr dirty="0" sz="1200" spc="65" b="1">
                <a:latin typeface="Arial"/>
                <a:cs typeface="Arial"/>
              </a:rPr>
              <a:t>What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happens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 we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skip</a:t>
            </a:r>
            <a:r>
              <a:rPr dirty="0" sz="1200" b="1">
                <a:latin typeface="Arial"/>
                <a:cs typeface="Arial"/>
              </a:rPr>
              <a:t> feature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engineering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altogether?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If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skip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engineering: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raw,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unstructured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may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fail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to </a:t>
            </a:r>
            <a:r>
              <a:rPr dirty="0" sz="1200">
                <a:latin typeface="Arial"/>
                <a:cs typeface="Arial"/>
              </a:rPr>
              <a:t>learn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useful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leading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poor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accuracy.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3100" y="8336864"/>
            <a:ext cx="5761355" cy="12211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470534" indent="-229235">
              <a:lnSpc>
                <a:spcPct val="100000"/>
              </a:lnSpc>
              <a:spcBef>
                <a:spcPts val="540"/>
              </a:spcBef>
              <a:buAutoNum type="arabicPeriod" startAt="4"/>
              <a:tabLst>
                <a:tab pos="470534" algn="l"/>
              </a:tabLst>
            </a:pPr>
            <a:r>
              <a:rPr dirty="0" sz="1200" spc="-25" b="1">
                <a:latin typeface="Arial"/>
                <a:cs typeface="Arial"/>
              </a:rPr>
              <a:t>Can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engineering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make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good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perform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poorly?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engineering: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yes,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-10">
                <a:latin typeface="Arial"/>
                <a:cs typeface="Arial"/>
              </a:rPr>
              <a:t> can </a:t>
            </a:r>
            <a:r>
              <a:rPr dirty="0" sz="1200">
                <a:latin typeface="Arial"/>
                <a:cs typeface="Arial"/>
              </a:rPr>
              <a:t>make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strong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perform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poorly, because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wrong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noisy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confuse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reduce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predictive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power.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66725" indent="-225425">
              <a:lnSpc>
                <a:spcPct val="100000"/>
              </a:lnSpc>
              <a:buSzPct val="91666"/>
              <a:buAutoNum type="arabicPeriod" startAt="5"/>
              <a:tabLst>
                <a:tab pos="466725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40" b="1">
                <a:latin typeface="Arial"/>
                <a:cs typeface="Arial"/>
              </a:rPr>
              <a:t>does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guide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-10" b="1">
                <a:latin typeface="Arial"/>
                <a:cs typeface="Arial"/>
              </a:rPr>
              <a:t> engineering?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39" y="5498752"/>
            <a:ext cx="6141696" cy="258127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891378"/>
            <a:ext cx="6195060" cy="337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2105">
              <a:lnSpc>
                <a:spcPct val="130700"/>
              </a:lnSpc>
              <a:spcBef>
                <a:spcPts val="100"/>
              </a:spcBef>
            </a:pPr>
            <a:r>
              <a:rPr dirty="0" sz="1200" spc="-30" b="1">
                <a:latin typeface="Arial"/>
                <a:cs typeface="Arial"/>
              </a:rPr>
              <a:t>Ans.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EDA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understand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correlations,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issues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guiding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30">
                <a:latin typeface="Arial"/>
                <a:cs typeface="Arial"/>
              </a:rPr>
              <a:t>what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create,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transform,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remove.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Arial"/>
              <a:buAutoNum type="arabicPeriod" startAt="6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should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stop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creating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new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features?</a:t>
            </a:r>
            <a:endParaRPr sz="1200">
              <a:latin typeface="Arial"/>
              <a:cs typeface="Arial"/>
            </a:endParaRPr>
          </a:p>
          <a:p>
            <a:pPr marL="12700" marR="159385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Stop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when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new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don’t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improve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performance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redundancy,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becomes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complex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without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gain.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Arial"/>
              <a:buAutoNum type="arabicPeriod" startAt="7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handle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unseen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categories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test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data?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techniques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“</a:t>
            </a:r>
            <a:r>
              <a:rPr dirty="0" sz="1200" b="1">
                <a:latin typeface="Arial"/>
                <a:cs typeface="Arial"/>
              </a:rPr>
              <a:t>unknown</a:t>
            </a:r>
            <a:r>
              <a:rPr dirty="0" sz="1200">
                <a:latin typeface="Arial"/>
                <a:cs typeface="Arial"/>
              </a:rPr>
              <a:t>”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category tagging,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frequency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encoding,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that </a:t>
            </a:r>
            <a:r>
              <a:rPr dirty="0" sz="1200">
                <a:latin typeface="Arial"/>
                <a:cs typeface="Arial"/>
              </a:rPr>
              <a:t>handle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unseen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gracefully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(like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tree-based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models).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Arial"/>
              <a:buAutoNum type="arabicPeriod" startAt="8"/>
              <a:tabLst>
                <a:tab pos="469900" algn="l"/>
              </a:tabLst>
            </a:pPr>
            <a:r>
              <a:rPr dirty="0" sz="1200" spc="-10" b="1">
                <a:latin typeface="Arial"/>
                <a:cs typeface="Arial"/>
              </a:rPr>
              <a:t>Does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engineering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deep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learning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models?</a:t>
            </a:r>
            <a:endParaRPr sz="1200">
              <a:latin typeface="Arial"/>
              <a:cs typeface="Arial"/>
            </a:endParaRPr>
          </a:p>
          <a:p>
            <a:pPr marL="12700" marR="191770">
              <a:lnSpc>
                <a:spcPct val="130700"/>
              </a:lnSpc>
            </a:pPr>
            <a:r>
              <a:rPr dirty="0" sz="1200" spc="-30" b="1">
                <a:latin typeface="Arial"/>
                <a:cs typeface="Arial"/>
              </a:rPr>
              <a:t>Ans.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85">
                <a:latin typeface="Arial"/>
                <a:cs typeface="Arial"/>
              </a:rPr>
              <a:t>Yes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deep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learning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often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needs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less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manual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engineering,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learn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1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automatically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raw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4716248"/>
            <a:ext cx="6172200" cy="169926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540"/>
              </a:spcBef>
              <a:buFont typeface="Arial"/>
              <a:buAutoNum type="arabicPeriod" startAt="9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domain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experts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help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creating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better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features?</a:t>
            </a:r>
            <a:endParaRPr sz="1200">
              <a:latin typeface="Arial"/>
              <a:cs typeface="Arial"/>
            </a:endParaRPr>
          </a:p>
          <a:p>
            <a:pPr marL="12700" marR="234315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They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provide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real-</a:t>
            </a:r>
            <a:r>
              <a:rPr dirty="0" sz="1200" spc="55">
                <a:latin typeface="Arial"/>
                <a:cs typeface="Arial"/>
              </a:rPr>
              <a:t>world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insights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guide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meaningful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creation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linking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patterns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actual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business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behavior.</a:t>
            </a: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445"/>
              </a:spcBef>
              <a:buSzPct val="91666"/>
              <a:buAutoNum type="arabicPeriod" startAt="10"/>
              <a:tabLst>
                <a:tab pos="469265" algn="l"/>
              </a:tabLst>
            </a:pPr>
            <a:r>
              <a:rPr dirty="0" sz="1200" spc="65" b="1">
                <a:latin typeface="Arial"/>
                <a:cs typeface="Arial"/>
              </a:rPr>
              <a:t>What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scaling?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scaling,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we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adjust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numerical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all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similar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range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or </a:t>
            </a:r>
            <a:r>
              <a:rPr dirty="0" sz="1200" spc="-10">
                <a:latin typeface="Arial"/>
                <a:cs typeface="Arial"/>
              </a:rPr>
              <a:t>scale.</a:t>
            </a:r>
            <a:endParaRPr sz="12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each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equally.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6767559"/>
            <a:ext cx="5648960" cy="98171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>
                <a:latin typeface="Arial"/>
                <a:cs typeface="Arial"/>
              </a:rPr>
              <a:t>Common</a:t>
            </a:r>
            <a:r>
              <a:rPr dirty="0" sz="1200" spc="-8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methods:</a:t>
            </a: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445"/>
              </a:spcBef>
              <a:buSzPct val="91666"/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latin typeface="Arial"/>
                <a:cs typeface="Arial"/>
              </a:rPr>
              <a:t>Normalization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(Min-Max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Scaling):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rescale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between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0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1.</a:t>
            </a: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30700"/>
              </a:lnSpc>
              <a:buSzPct val="91666"/>
              <a:buFont typeface="Arial"/>
              <a:buChar char="●"/>
              <a:tabLst>
                <a:tab pos="469900" algn="l"/>
              </a:tabLst>
            </a:pPr>
            <a:r>
              <a:rPr dirty="0" sz="1200" spc="-20" b="1">
                <a:latin typeface="Arial"/>
                <a:cs typeface="Arial"/>
              </a:rPr>
              <a:t>Standardization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(Z-</a:t>
            </a:r>
            <a:r>
              <a:rPr dirty="0" sz="1200" spc="-10">
                <a:latin typeface="Arial"/>
                <a:cs typeface="Arial"/>
              </a:rPr>
              <a:t>score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Scaling):</a:t>
            </a:r>
            <a:r>
              <a:rPr dirty="0" sz="1200">
                <a:latin typeface="Arial"/>
                <a:cs typeface="Arial"/>
              </a:rPr>
              <a:t> center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 around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 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standard </a:t>
            </a:r>
            <a:r>
              <a:rPr dirty="0" sz="1200">
                <a:latin typeface="Arial"/>
                <a:cs typeface="Arial"/>
              </a:rPr>
              <a:t>deviation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1.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050" y="1149077"/>
            <a:ext cx="5334000" cy="541972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09612" y="977627"/>
            <a:ext cx="5495925" cy="5772150"/>
          </a:xfrm>
          <a:custGeom>
            <a:avLst/>
            <a:gdLst/>
            <a:ahLst/>
            <a:cxnLst/>
            <a:rect l="l" t="t" r="r" b="b"/>
            <a:pathLst>
              <a:path w="5495925" h="5772150">
                <a:moveTo>
                  <a:pt x="0" y="4762"/>
                </a:moveTo>
                <a:lnTo>
                  <a:pt x="5491162" y="4762"/>
                </a:lnTo>
              </a:path>
              <a:path w="5495925" h="5772150">
                <a:moveTo>
                  <a:pt x="5491162" y="0"/>
                </a:moveTo>
                <a:lnTo>
                  <a:pt x="5491162" y="5767387"/>
                </a:lnTo>
              </a:path>
              <a:path w="5495925" h="5772150">
                <a:moveTo>
                  <a:pt x="5495925" y="5767387"/>
                </a:moveTo>
                <a:lnTo>
                  <a:pt x="4762" y="5767387"/>
                </a:lnTo>
              </a:path>
              <a:path w="5495925" h="5772150">
                <a:moveTo>
                  <a:pt x="4762" y="5772150"/>
                </a:moveTo>
                <a:lnTo>
                  <a:pt x="4762" y="47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100" y="4340545"/>
            <a:ext cx="6117590" cy="169926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latin typeface="Arial"/>
                <a:cs typeface="Arial"/>
              </a:rPr>
              <a:t>11.Why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45" b="1">
                <a:latin typeface="Arial"/>
                <a:cs typeface="Arial"/>
              </a:rPr>
              <a:t>is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feature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30" b="1">
                <a:latin typeface="Arial"/>
                <a:cs typeface="Arial"/>
              </a:rPr>
              <a:t>scaling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really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impactful?</a:t>
            </a:r>
            <a:endParaRPr sz="1200">
              <a:latin typeface="Arial"/>
              <a:cs typeface="Arial"/>
            </a:endParaRPr>
          </a:p>
          <a:p>
            <a:pPr marL="12700" marR="152400">
              <a:lnSpc>
                <a:spcPct val="130700"/>
              </a:lnSpc>
            </a:pPr>
            <a:r>
              <a:rPr dirty="0" sz="1200" spc="-25" b="1">
                <a:latin typeface="Arial"/>
                <a:cs typeface="Arial"/>
              </a:rPr>
              <a:t>Ans.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Feature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scaling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impactful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because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makes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all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contribute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equally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the </a:t>
            </a:r>
            <a:r>
              <a:rPr dirty="0" sz="1200">
                <a:latin typeface="Arial"/>
                <a:cs typeface="Arial"/>
              </a:rPr>
              <a:t>model’s</a:t>
            </a:r>
            <a:r>
              <a:rPr dirty="0" sz="1200" spc="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learning</a:t>
            </a:r>
            <a:r>
              <a:rPr dirty="0" sz="1200" spc="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process.</a:t>
            </a:r>
            <a:endParaRPr sz="1200">
              <a:latin typeface="Arial"/>
              <a:cs typeface="Arial"/>
            </a:endParaRPr>
          </a:p>
          <a:p>
            <a:pPr marL="12700" marR="69215">
              <a:lnSpc>
                <a:spcPct val="130700"/>
              </a:lnSpc>
            </a:pPr>
            <a:r>
              <a:rPr dirty="0" sz="1200" spc="55" i="1">
                <a:latin typeface="Arial"/>
                <a:cs typeface="Arial"/>
              </a:rPr>
              <a:t>Without</a:t>
            </a:r>
            <a:r>
              <a:rPr dirty="0" sz="1200" spc="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scaling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65">
                <a:latin typeface="Arial"/>
                <a:cs typeface="Arial"/>
              </a:rPr>
              <a:t>with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large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(like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income)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dominate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smaller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ones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(like </a:t>
            </a:r>
            <a:r>
              <a:rPr dirty="0" sz="1200" spc="-20">
                <a:latin typeface="Arial"/>
                <a:cs typeface="Arial"/>
              </a:rPr>
              <a:t>age),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causing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biased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results.</a:t>
            </a:r>
            <a:endParaRPr sz="1200">
              <a:latin typeface="Arial"/>
              <a:cs typeface="Arial"/>
            </a:endParaRPr>
          </a:p>
          <a:p>
            <a:pPr marL="12700" marR="5080" indent="38735">
              <a:lnSpc>
                <a:spcPct val="130700"/>
              </a:lnSpc>
            </a:pPr>
            <a:r>
              <a:rPr dirty="0" sz="1200">
                <a:latin typeface="Arial"/>
                <a:cs typeface="Arial"/>
              </a:rPr>
              <a:t>It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also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helps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linear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regression,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k-</a:t>
            </a:r>
            <a:r>
              <a:rPr dirty="0" sz="1200" spc="-20">
                <a:latin typeface="Arial"/>
                <a:cs typeface="Arial"/>
              </a:rPr>
              <a:t>means,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neural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networks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converge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faster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perform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accurately.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23900" y="6381748"/>
            <a:ext cx="6159500" cy="0"/>
          </a:xfrm>
          <a:custGeom>
            <a:avLst/>
            <a:gdLst/>
            <a:ahLst/>
            <a:cxnLst/>
            <a:rect l="l" t="t" r="r" b="b"/>
            <a:pathLst>
              <a:path w="6159500" h="0">
                <a:moveTo>
                  <a:pt x="0" y="0"/>
                </a:moveTo>
                <a:lnTo>
                  <a:pt x="6159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597" y="496660"/>
            <a:ext cx="1284800" cy="3946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50" y="977627"/>
            <a:ext cx="6238875" cy="286702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Engineering</dc:title>
  <dcterms:created xsi:type="dcterms:W3CDTF">2025-11-02T08:34:36Z</dcterms:created>
  <dcterms:modified xsi:type="dcterms:W3CDTF">2025-11-02T08:34:36Z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2025-11-02T00:00:00Z</vt:filetime>
  </property>
  <property fmtid="{D5CDD505-2E9C-101B-9397-08002B2CF9AE}" pid="3" name="Producer">
    <vt:lpwstr>Skia/PDF m143 Google Docs Renderer</vt:lpwstr>
  </property>
  <property fmtid="{D5CDD505-2E9C-101B-9397-08002B2CF9AE}" pid="4" name="LastSaved">
    <vt:filetime>2025-11-02T00:00:00Z</vt:filetime>
  </property>
</Properties>
</file>